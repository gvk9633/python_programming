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sldIdLst>
    <p:sldId id="8456" r:id="rId2"/>
    <p:sldId id="256" r:id="rId3"/>
    <p:sldId id="257" r:id="rId4"/>
    <p:sldId id="267" r:id="rId5"/>
    <p:sldId id="258" r:id="rId6"/>
    <p:sldId id="261" r:id="rId7"/>
    <p:sldId id="262" r:id="rId8"/>
    <p:sldId id="263" r:id="rId9"/>
    <p:sldId id="266" r:id="rId10"/>
    <p:sldId id="844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6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511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765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582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19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12/13/2024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827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12/13/2024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526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12/13/2024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09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91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186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000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64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12/13/2024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408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1" r:id="rId6"/>
    <p:sldLayoutId id="2147483777" r:id="rId7"/>
    <p:sldLayoutId id="2147483778" r:id="rId8"/>
    <p:sldLayoutId id="2147483779" r:id="rId9"/>
    <p:sldLayoutId id="2147483780" r:id="rId10"/>
    <p:sldLayoutId id="214748378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hyperlink" Target="https://github.com/CompVis/stable-diffusion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gpt-omni/mini-omni" TargetMode="External"/><Relationship Id="rId2" Type="http://schemas.openxmlformats.org/officeDocument/2006/relationships/hyperlink" Target="https://huggingface.co/settings/tokens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ypi.org/project/torch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0gqlrw-6I0s" TargetMode="External"/><Relationship Id="rId2" Type="http://schemas.openxmlformats.org/officeDocument/2006/relationships/hyperlink" Target="http://www.youtube.com/watch?v=8nWjvn8ZKtU&amp;t=7553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112E02D-8CD2-F229-1195-3C82F848ADAD}"/>
              </a:ext>
            </a:extLst>
          </p:cNvPr>
          <p:cNvSpPr/>
          <p:nvPr/>
        </p:nvSpPr>
        <p:spPr>
          <a:xfrm>
            <a:off x="3468312" y="277141"/>
            <a:ext cx="1855844" cy="61972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DATA SCIENCE</a:t>
            </a:r>
            <a:endParaRPr lang="en-IN" sz="1600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75F798E-D006-C459-C4E9-FED7557AD220}"/>
              </a:ext>
            </a:extLst>
          </p:cNvPr>
          <p:cNvSpPr/>
          <p:nvPr/>
        </p:nvSpPr>
        <p:spPr>
          <a:xfrm>
            <a:off x="6241054" y="2746754"/>
            <a:ext cx="2413820" cy="5462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GENERATIVE </a:t>
            </a:r>
          </a:p>
          <a:p>
            <a:pPr algn="ctr"/>
            <a:r>
              <a:rPr lang="en-US" sz="1600" b="1" dirty="0"/>
              <a:t>Artificial Intelligence </a:t>
            </a:r>
            <a:endParaRPr lang="en-IN" sz="1600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4D42463-A19B-F92B-7887-0211BA87CB3E}"/>
              </a:ext>
            </a:extLst>
          </p:cNvPr>
          <p:cNvSpPr/>
          <p:nvPr/>
        </p:nvSpPr>
        <p:spPr>
          <a:xfrm>
            <a:off x="3556807" y="2715569"/>
            <a:ext cx="1745222" cy="648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ARTIFICIAL ITELLIGENCE</a:t>
            </a:r>
            <a:endParaRPr lang="en-IN" sz="1600" b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F93A78A-5B56-E339-ABFF-A593F69028A1}"/>
              </a:ext>
            </a:extLst>
          </p:cNvPr>
          <p:cNvSpPr/>
          <p:nvPr/>
        </p:nvSpPr>
        <p:spPr>
          <a:xfrm>
            <a:off x="408035" y="2750647"/>
            <a:ext cx="1406016" cy="648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MACHINE LEARNING</a:t>
            </a:r>
            <a:endParaRPr lang="en-IN" sz="1600" b="1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B8DEE87-8D6A-5E51-A9CF-5D96629A3E54}"/>
              </a:ext>
            </a:extLst>
          </p:cNvPr>
          <p:cNvSpPr/>
          <p:nvPr/>
        </p:nvSpPr>
        <p:spPr>
          <a:xfrm>
            <a:off x="324450" y="3965206"/>
            <a:ext cx="1661656" cy="336754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REGRESSION </a:t>
            </a:r>
            <a:endParaRPr lang="en-IN" sz="1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98C30A2-6C06-64B8-C842-1295BD47FADB}"/>
              </a:ext>
            </a:extLst>
          </p:cNvPr>
          <p:cNvSpPr/>
          <p:nvPr/>
        </p:nvSpPr>
        <p:spPr>
          <a:xfrm>
            <a:off x="324450" y="4425907"/>
            <a:ext cx="2000869" cy="41357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CLASSIFICATION</a:t>
            </a:r>
            <a:endParaRPr lang="en-IN" sz="1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DBA6B65-DA9B-EF09-DD69-7E10FAF22043}"/>
              </a:ext>
            </a:extLst>
          </p:cNvPr>
          <p:cNvSpPr/>
          <p:nvPr/>
        </p:nvSpPr>
        <p:spPr>
          <a:xfrm>
            <a:off x="334268" y="4981539"/>
            <a:ext cx="1769809" cy="34413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CLUSTERING</a:t>
            </a:r>
            <a:endParaRPr lang="en-IN" sz="1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44EBEB2-B288-40BA-BC67-9DB11F5B3AF6}"/>
              </a:ext>
            </a:extLst>
          </p:cNvPr>
          <p:cNvSpPr/>
          <p:nvPr/>
        </p:nvSpPr>
        <p:spPr>
          <a:xfrm>
            <a:off x="4095128" y="3944249"/>
            <a:ext cx="786585" cy="33675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NLP </a:t>
            </a:r>
            <a:endParaRPr lang="en-IN" sz="1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52056D5-669B-FC12-A2F6-D14A87E08959}"/>
              </a:ext>
            </a:extLst>
          </p:cNvPr>
          <p:cNvSpPr/>
          <p:nvPr/>
        </p:nvSpPr>
        <p:spPr>
          <a:xfrm>
            <a:off x="3635469" y="4452280"/>
            <a:ext cx="1922211" cy="34412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DEEP LEARNING </a:t>
            </a:r>
            <a:endParaRPr lang="en-IN" sz="1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D99D6C9-6296-57F1-5661-160266FA5BB4}"/>
              </a:ext>
            </a:extLst>
          </p:cNvPr>
          <p:cNvSpPr/>
          <p:nvPr/>
        </p:nvSpPr>
        <p:spPr>
          <a:xfrm>
            <a:off x="3480612" y="4999801"/>
            <a:ext cx="2231927" cy="41048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NEURAL NETWORK</a:t>
            </a:r>
            <a:endParaRPr lang="en-IN" sz="1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8D491D7-B6D6-0B6F-7BA2-8D86798CE481}"/>
              </a:ext>
            </a:extLst>
          </p:cNvPr>
          <p:cNvSpPr/>
          <p:nvPr/>
        </p:nvSpPr>
        <p:spPr>
          <a:xfrm>
            <a:off x="6946486" y="3824008"/>
            <a:ext cx="1641987" cy="49284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LLM MODELS</a:t>
            </a:r>
            <a:endParaRPr lang="en-IN" sz="1600" b="1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63FEC36-D3E3-40FA-D224-532BA091C796}"/>
              </a:ext>
            </a:extLst>
          </p:cNvPr>
          <p:cNvSpPr/>
          <p:nvPr/>
        </p:nvSpPr>
        <p:spPr>
          <a:xfrm>
            <a:off x="6692090" y="5796820"/>
            <a:ext cx="820999" cy="32321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META</a:t>
            </a:r>
            <a:endParaRPr lang="en-IN" sz="1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920312B-AD81-2292-05D8-5FC033C21A08}"/>
              </a:ext>
            </a:extLst>
          </p:cNvPr>
          <p:cNvSpPr/>
          <p:nvPr/>
        </p:nvSpPr>
        <p:spPr>
          <a:xfrm>
            <a:off x="6644155" y="5347252"/>
            <a:ext cx="1194625" cy="31403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GOOGLE</a:t>
            </a:r>
            <a:endParaRPr lang="en-IN" sz="1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F1CABFF-357B-6F5D-3AD6-B808F6072068}"/>
              </a:ext>
            </a:extLst>
          </p:cNvPr>
          <p:cNvSpPr/>
          <p:nvPr/>
        </p:nvSpPr>
        <p:spPr>
          <a:xfrm>
            <a:off x="6636775" y="4852043"/>
            <a:ext cx="1125799" cy="33675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OPEN AI</a:t>
            </a:r>
            <a:endParaRPr lang="en-IN" sz="1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27F15EC-2934-8E72-7878-8672F474E25A}"/>
              </a:ext>
            </a:extLst>
          </p:cNvPr>
          <p:cNvSpPr/>
          <p:nvPr/>
        </p:nvSpPr>
        <p:spPr>
          <a:xfrm>
            <a:off x="6692090" y="6229521"/>
            <a:ext cx="1125800" cy="40584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CLAUDE</a:t>
            </a:r>
            <a:endParaRPr lang="en-IN" sz="1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861634A-538F-8D27-427A-B95B9138E0ED}"/>
              </a:ext>
            </a:extLst>
          </p:cNvPr>
          <p:cNvSpPr/>
          <p:nvPr/>
        </p:nvSpPr>
        <p:spPr>
          <a:xfrm>
            <a:off x="280215" y="1476064"/>
            <a:ext cx="1661656" cy="648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SUPERVISED LEARNING</a:t>
            </a:r>
            <a:endParaRPr lang="en-IN" sz="1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684167E-C91A-EE37-0658-EFBDA291BF88}"/>
              </a:ext>
            </a:extLst>
          </p:cNvPr>
          <p:cNvSpPr/>
          <p:nvPr/>
        </p:nvSpPr>
        <p:spPr>
          <a:xfrm>
            <a:off x="3468312" y="1496604"/>
            <a:ext cx="1922211" cy="648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UNSUPERVISED LEARNING</a:t>
            </a:r>
            <a:endParaRPr lang="en-IN" sz="1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5913140-B15C-33E8-BA1D-EF01D31BB2DD}"/>
              </a:ext>
            </a:extLst>
          </p:cNvPr>
          <p:cNvSpPr/>
          <p:nvPr/>
        </p:nvSpPr>
        <p:spPr>
          <a:xfrm>
            <a:off x="6536018" y="1500218"/>
            <a:ext cx="2118856" cy="648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REINFORCEMENT LEARNING</a:t>
            </a:r>
            <a:endParaRPr lang="en-IN" sz="1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0821A4A8-9261-63E2-B7BA-07BF9CE7F37E}"/>
              </a:ext>
            </a:extLst>
          </p:cNvPr>
          <p:cNvSpPr/>
          <p:nvPr/>
        </p:nvSpPr>
        <p:spPr>
          <a:xfrm>
            <a:off x="7514315" y="2249765"/>
            <a:ext cx="216310" cy="4658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45" name="Arrow: Down 44">
            <a:extLst>
              <a:ext uri="{FF2B5EF4-FFF2-40B4-BE49-F238E27FC236}">
                <a16:creationId xmlns:a16="http://schemas.microsoft.com/office/drawing/2014/main" id="{E4B0751E-BC37-185A-2017-7A376421C5F8}"/>
              </a:ext>
            </a:extLst>
          </p:cNvPr>
          <p:cNvSpPr/>
          <p:nvPr/>
        </p:nvSpPr>
        <p:spPr>
          <a:xfrm>
            <a:off x="4321262" y="2217660"/>
            <a:ext cx="216310" cy="4658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46" name="Arrow: Down 45">
            <a:extLst>
              <a:ext uri="{FF2B5EF4-FFF2-40B4-BE49-F238E27FC236}">
                <a16:creationId xmlns:a16="http://schemas.microsoft.com/office/drawing/2014/main" id="{438DE9AD-E062-631A-6D27-E87B92E8E507}"/>
              </a:ext>
            </a:extLst>
          </p:cNvPr>
          <p:cNvSpPr/>
          <p:nvPr/>
        </p:nvSpPr>
        <p:spPr>
          <a:xfrm>
            <a:off x="894733" y="2253519"/>
            <a:ext cx="216310" cy="4658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47" name="Arrow: Down 46">
            <a:extLst>
              <a:ext uri="{FF2B5EF4-FFF2-40B4-BE49-F238E27FC236}">
                <a16:creationId xmlns:a16="http://schemas.microsoft.com/office/drawing/2014/main" id="{F167B5F3-4830-97BC-27DD-99306EE222E8}"/>
              </a:ext>
            </a:extLst>
          </p:cNvPr>
          <p:cNvSpPr/>
          <p:nvPr/>
        </p:nvSpPr>
        <p:spPr>
          <a:xfrm>
            <a:off x="7514315" y="3292973"/>
            <a:ext cx="223641" cy="4658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48" name="Arrow: Down 47">
            <a:extLst>
              <a:ext uri="{FF2B5EF4-FFF2-40B4-BE49-F238E27FC236}">
                <a16:creationId xmlns:a16="http://schemas.microsoft.com/office/drawing/2014/main" id="{87F6857D-B13F-0839-388B-82C8C5FD0612}"/>
              </a:ext>
            </a:extLst>
          </p:cNvPr>
          <p:cNvSpPr/>
          <p:nvPr/>
        </p:nvSpPr>
        <p:spPr>
          <a:xfrm>
            <a:off x="4380266" y="3406317"/>
            <a:ext cx="216310" cy="4658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49" name="Arrow: Down 48">
            <a:extLst>
              <a:ext uri="{FF2B5EF4-FFF2-40B4-BE49-F238E27FC236}">
                <a16:creationId xmlns:a16="http://schemas.microsoft.com/office/drawing/2014/main" id="{76615395-D7A8-24F2-6A7C-A1F73D5107EC}"/>
              </a:ext>
            </a:extLst>
          </p:cNvPr>
          <p:cNvSpPr/>
          <p:nvPr/>
        </p:nvSpPr>
        <p:spPr>
          <a:xfrm>
            <a:off x="914392" y="3467173"/>
            <a:ext cx="216310" cy="4658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50" name="Arrow: Down 49">
            <a:extLst>
              <a:ext uri="{FF2B5EF4-FFF2-40B4-BE49-F238E27FC236}">
                <a16:creationId xmlns:a16="http://schemas.microsoft.com/office/drawing/2014/main" id="{9ED2B0C4-6791-AFE6-E2D2-223B7F936798}"/>
              </a:ext>
            </a:extLst>
          </p:cNvPr>
          <p:cNvSpPr/>
          <p:nvPr/>
        </p:nvSpPr>
        <p:spPr>
          <a:xfrm>
            <a:off x="7513089" y="4351544"/>
            <a:ext cx="216310" cy="4658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41A5953-4344-80E0-90C7-964F564DDD3D}"/>
              </a:ext>
            </a:extLst>
          </p:cNvPr>
          <p:cNvCxnSpPr>
            <a:cxnSpLocks/>
          </p:cNvCxnSpPr>
          <p:nvPr/>
        </p:nvCxnSpPr>
        <p:spPr>
          <a:xfrm flipH="1">
            <a:off x="1986106" y="850409"/>
            <a:ext cx="1482206" cy="625655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961FDEA-C698-580A-D9E2-B6838060BB46}"/>
              </a:ext>
            </a:extLst>
          </p:cNvPr>
          <p:cNvCxnSpPr>
            <a:cxnSpLocks/>
          </p:cNvCxnSpPr>
          <p:nvPr/>
        </p:nvCxnSpPr>
        <p:spPr>
          <a:xfrm>
            <a:off x="5324156" y="775031"/>
            <a:ext cx="1875519" cy="645628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C0C8BAF-746C-C1AC-5125-BDFE912A68AB}"/>
              </a:ext>
            </a:extLst>
          </p:cNvPr>
          <p:cNvCxnSpPr>
            <a:cxnSpLocks/>
          </p:cNvCxnSpPr>
          <p:nvPr/>
        </p:nvCxnSpPr>
        <p:spPr>
          <a:xfrm>
            <a:off x="4321262" y="896866"/>
            <a:ext cx="0" cy="503192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1" name="Right Brace 80">
            <a:extLst>
              <a:ext uri="{FF2B5EF4-FFF2-40B4-BE49-F238E27FC236}">
                <a16:creationId xmlns:a16="http://schemas.microsoft.com/office/drawing/2014/main" id="{1A657398-92EC-B612-7FC0-B231319DBFD9}"/>
              </a:ext>
            </a:extLst>
          </p:cNvPr>
          <p:cNvSpPr/>
          <p:nvPr/>
        </p:nvSpPr>
        <p:spPr>
          <a:xfrm>
            <a:off x="7838797" y="4960603"/>
            <a:ext cx="963561" cy="1517584"/>
          </a:xfrm>
          <a:prstGeom prst="rightBrac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pic>
        <p:nvPicPr>
          <p:cNvPr id="83" name="Picture 2">
            <a:extLst>
              <a:ext uri="{FF2B5EF4-FFF2-40B4-BE49-F238E27FC236}">
                <a16:creationId xmlns:a16="http://schemas.microsoft.com/office/drawing/2014/main" id="{7BC48D98-9B01-C8E1-A859-E7D09554A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2358" y="-1"/>
            <a:ext cx="3357697" cy="3965207"/>
          </a:xfrm>
          <a:prstGeom prst="rect">
            <a:avLst/>
          </a:prstGeom>
          <a:noFill/>
          <a:effectLst>
            <a:glow rad="127000">
              <a:srgbClr val="FF0000"/>
            </a:glow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6D9788BF-DA73-A5D5-CBB7-E898A9E203A7}"/>
              </a:ext>
            </a:extLst>
          </p:cNvPr>
          <p:cNvSpPr/>
          <p:nvPr/>
        </p:nvSpPr>
        <p:spPr>
          <a:xfrm>
            <a:off x="8943650" y="5410285"/>
            <a:ext cx="1125799" cy="61822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AI AGENTS</a:t>
            </a:r>
            <a:endParaRPr lang="en-IN" sz="1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C57A4B9C-B7AE-6239-3C58-71BBFFEF9590}"/>
              </a:ext>
            </a:extLst>
          </p:cNvPr>
          <p:cNvSpPr/>
          <p:nvPr/>
        </p:nvSpPr>
        <p:spPr>
          <a:xfrm>
            <a:off x="10702503" y="5073531"/>
            <a:ext cx="1125799" cy="33675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CREW AI</a:t>
            </a:r>
            <a:endParaRPr lang="en-IN" sz="1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EAA74E3A-8AB6-597E-D8DD-21F45F98C2AE}"/>
              </a:ext>
            </a:extLst>
          </p:cNvPr>
          <p:cNvSpPr/>
          <p:nvPr/>
        </p:nvSpPr>
        <p:spPr>
          <a:xfrm>
            <a:off x="10704916" y="5621497"/>
            <a:ext cx="1359432" cy="37503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SUPER AGI</a:t>
            </a:r>
            <a:endParaRPr lang="en-IN" sz="1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0B1106AB-3FA4-C69E-E80F-E89C8D4416A0}"/>
              </a:ext>
            </a:extLst>
          </p:cNvPr>
          <p:cNvSpPr/>
          <p:nvPr/>
        </p:nvSpPr>
        <p:spPr>
          <a:xfrm>
            <a:off x="10704916" y="6207739"/>
            <a:ext cx="1125799" cy="33675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Unfetch</a:t>
            </a:r>
            <a:r>
              <a:rPr lang="en-IN" sz="1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A4EA9EB-9720-4635-1FE9-2BC6AF91AB98}"/>
              </a:ext>
            </a:extLst>
          </p:cNvPr>
          <p:cNvCxnSpPr>
            <a:cxnSpLocks/>
            <a:stCxn id="84" idx="3"/>
          </p:cNvCxnSpPr>
          <p:nvPr/>
        </p:nvCxnSpPr>
        <p:spPr>
          <a:xfrm flipV="1">
            <a:off x="10069449" y="5337249"/>
            <a:ext cx="582900" cy="382146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441B2F45-144C-AF56-4535-9B5C8363D9AE}"/>
              </a:ext>
            </a:extLst>
          </p:cNvPr>
          <p:cNvCxnSpPr>
            <a:cxnSpLocks/>
            <a:endCxn id="86" idx="1"/>
          </p:cNvCxnSpPr>
          <p:nvPr/>
        </p:nvCxnSpPr>
        <p:spPr>
          <a:xfrm flipV="1">
            <a:off x="10087004" y="5809012"/>
            <a:ext cx="617912" cy="89617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42085746-F25E-DA32-FEF6-5A2EBBF45AEE}"/>
              </a:ext>
            </a:extLst>
          </p:cNvPr>
          <p:cNvCxnSpPr>
            <a:cxnSpLocks/>
            <a:endCxn id="88" idx="1"/>
          </p:cNvCxnSpPr>
          <p:nvPr/>
        </p:nvCxnSpPr>
        <p:spPr>
          <a:xfrm>
            <a:off x="10069449" y="6028505"/>
            <a:ext cx="635467" cy="347611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E79E97C-60C7-24BC-31CA-7C9146017562}"/>
              </a:ext>
            </a:extLst>
          </p:cNvPr>
          <p:cNvSpPr/>
          <p:nvPr/>
        </p:nvSpPr>
        <p:spPr>
          <a:xfrm>
            <a:off x="5463092" y="3819912"/>
            <a:ext cx="1206873" cy="56459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stable diffusion</a:t>
            </a:r>
            <a:endParaRPr lang="en-IN" sz="1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83979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03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06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31D8F3-E517-2740-AF20-35668905D9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5150" y="88345"/>
            <a:ext cx="8757776" cy="738435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400" b="1" kern="1200" dirty="0">
                <a:solidFill>
                  <a:schemeClr val="tx1"/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What is stable diffusion ?</a:t>
            </a: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72B0D2CD-476E-66AB-A287-DABF99A364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749" r="25668" b="-1"/>
          <a:stretch/>
        </p:blipFill>
        <p:spPr>
          <a:xfrm>
            <a:off x="20" y="10"/>
            <a:ext cx="3392392" cy="6857990"/>
          </a:xfrm>
          <a:custGeom>
            <a:avLst/>
            <a:gdLst/>
            <a:ahLst/>
            <a:cxnLst/>
            <a:rect l="l" t="t" r="r" b="b"/>
            <a:pathLst>
              <a:path w="5710652" h="6858000">
                <a:moveTo>
                  <a:pt x="4831301" y="0"/>
                </a:moveTo>
                <a:lnTo>
                  <a:pt x="5696109" y="0"/>
                </a:lnTo>
                <a:lnTo>
                  <a:pt x="5706418" y="42969"/>
                </a:lnTo>
                <a:cubicBezTo>
                  <a:pt x="5714414" y="100391"/>
                  <a:pt x="5711283" y="160329"/>
                  <a:pt x="5695333" y="219852"/>
                </a:cubicBezTo>
                <a:cubicBezTo>
                  <a:pt x="5631536" y="457945"/>
                  <a:pt x="5386806" y="599240"/>
                  <a:pt x="5148712" y="535443"/>
                </a:cubicBezTo>
                <a:cubicBezTo>
                  <a:pt x="4940381" y="479621"/>
                  <a:pt x="4806160" y="285271"/>
                  <a:pt x="4818599" y="78052"/>
                </a:cubicBezTo>
                <a:close/>
                <a:moveTo>
                  <a:pt x="0" y="0"/>
                </a:moveTo>
                <a:lnTo>
                  <a:pt x="545808" y="0"/>
                </a:lnTo>
                <a:lnTo>
                  <a:pt x="4212872" y="0"/>
                </a:lnTo>
                <a:lnTo>
                  <a:pt x="4204748" y="184996"/>
                </a:lnTo>
                <a:cubicBezTo>
                  <a:pt x="4203390" y="263520"/>
                  <a:pt x="4204263" y="341910"/>
                  <a:pt x="4207775" y="419995"/>
                </a:cubicBezTo>
                <a:cubicBezTo>
                  <a:pt x="4220964" y="709488"/>
                  <a:pt x="4449625" y="891535"/>
                  <a:pt x="4655737" y="1068099"/>
                </a:cubicBezTo>
                <a:cubicBezTo>
                  <a:pt x="5169527" y="1508061"/>
                  <a:pt x="5344373" y="2032158"/>
                  <a:pt x="5103604" y="2589405"/>
                </a:cubicBezTo>
                <a:cubicBezTo>
                  <a:pt x="5010230" y="2805523"/>
                  <a:pt x="4828675" y="2993264"/>
                  <a:pt x="4657611" y="3164269"/>
                </a:cubicBezTo>
                <a:cubicBezTo>
                  <a:pt x="4198817" y="3622744"/>
                  <a:pt x="4217616" y="4154456"/>
                  <a:pt x="4499219" y="4641255"/>
                </a:cubicBezTo>
                <a:cubicBezTo>
                  <a:pt x="4699839" y="4986832"/>
                  <a:pt x="4940395" y="5311556"/>
                  <a:pt x="5110950" y="5670858"/>
                </a:cubicBezTo>
                <a:cubicBezTo>
                  <a:pt x="5277001" y="6019042"/>
                  <a:pt x="5375520" y="6366409"/>
                  <a:pt x="5396522" y="6707670"/>
                </a:cubicBezTo>
                <a:lnTo>
                  <a:pt x="539889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7D514EC-D2BF-F1AB-EFF4-73479027FD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5149" y="971403"/>
            <a:ext cx="8973804" cy="57982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6858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Stable Diffusion is a type of generative model primarily used for creating images from text descriptions. </a:t>
            </a:r>
          </a:p>
          <a:p>
            <a:pPr marL="6858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It employs a process called diffusion, where it gradually transforms random noise into a coherent image by following a learned pattern from training data. 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The model can generate high-quality visuals based on various prompts, making it popular for creative applications in art, design, and even game development. 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Its ability to create detailed and diverse images has made it a significant tool in the realm of artificial intelligence. </a:t>
            </a:r>
          </a:p>
        </p:txBody>
      </p:sp>
    </p:spTree>
    <p:extLst>
      <p:ext uri="{BB962C8B-B14F-4D97-AF65-F5344CB8AC3E}">
        <p14:creationId xmlns:p14="http://schemas.microsoft.com/office/powerpoint/2010/main" val="1215934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7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CF52A5B-5810-4130-A3DB-FD2582D053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B77B4CB6-64B7-4C1D-B623-F1EC02FCC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5937866"/>
          </a:xfrm>
          <a:custGeom>
            <a:avLst/>
            <a:gdLst>
              <a:gd name="connsiteX0" fmla="*/ 8930642 w 12192000"/>
              <a:gd name="connsiteY0" fmla="*/ 5494299 h 5937866"/>
              <a:gd name="connsiteX1" fmla="*/ 9143134 w 12192000"/>
              <a:gd name="connsiteY1" fmla="*/ 5616927 h 5937866"/>
              <a:gd name="connsiteX2" fmla="*/ 9043549 w 12192000"/>
              <a:gd name="connsiteY2" fmla="*/ 5914543 h 5937866"/>
              <a:gd name="connsiteX3" fmla="*/ 8745984 w 12192000"/>
              <a:gd name="connsiteY3" fmla="*/ 5814814 h 5937866"/>
              <a:gd name="connsiteX4" fmla="*/ 8845568 w 12192000"/>
              <a:gd name="connsiteY4" fmla="*/ 5517199 h 5937866"/>
              <a:gd name="connsiteX5" fmla="*/ 8930642 w 12192000"/>
              <a:gd name="connsiteY5" fmla="*/ 5494299 h 5937866"/>
              <a:gd name="connsiteX6" fmla="*/ 9842642 w 12192000"/>
              <a:gd name="connsiteY6" fmla="*/ 4939308 h 5937866"/>
              <a:gd name="connsiteX7" fmla="*/ 10272210 w 12192000"/>
              <a:gd name="connsiteY7" fmla="*/ 5187210 h 5937866"/>
              <a:gd name="connsiteX8" fmla="*/ 10070896 w 12192000"/>
              <a:gd name="connsiteY8" fmla="*/ 5788857 h 5937866"/>
              <a:gd name="connsiteX9" fmla="*/ 9469346 w 12192000"/>
              <a:gd name="connsiteY9" fmla="*/ 5587251 h 5937866"/>
              <a:gd name="connsiteX10" fmla="*/ 9670660 w 12192000"/>
              <a:gd name="connsiteY10" fmla="*/ 4985603 h 5937866"/>
              <a:gd name="connsiteX11" fmla="*/ 9842642 w 12192000"/>
              <a:gd name="connsiteY11" fmla="*/ 4939308 h 5937866"/>
              <a:gd name="connsiteX12" fmla="*/ 0 w 12192000"/>
              <a:gd name="connsiteY12" fmla="*/ 0 h 5937866"/>
              <a:gd name="connsiteX13" fmla="*/ 12188952 w 12192000"/>
              <a:gd name="connsiteY13" fmla="*/ 0 h 5937866"/>
              <a:gd name="connsiteX14" fmla="*/ 12188952 w 12192000"/>
              <a:gd name="connsiteY14" fmla="*/ 1220565 h 5937866"/>
              <a:gd name="connsiteX15" fmla="*/ 12192000 w 12192000"/>
              <a:gd name="connsiteY15" fmla="*/ 1220565 h 5937866"/>
              <a:gd name="connsiteX16" fmla="*/ 12192000 w 12192000"/>
              <a:gd name="connsiteY16" fmla="*/ 4590456 h 5937866"/>
              <a:gd name="connsiteX17" fmla="*/ 12124015 w 12192000"/>
              <a:gd name="connsiteY17" fmla="*/ 4631278 h 5937866"/>
              <a:gd name="connsiteX18" fmla="*/ 11077457 w 12192000"/>
              <a:gd name="connsiteY18" fmla="*/ 4722290 h 5937866"/>
              <a:gd name="connsiteX19" fmla="*/ 9867246 w 12192000"/>
              <a:gd name="connsiteY19" fmla="*/ 4572157 h 5937866"/>
              <a:gd name="connsiteX20" fmla="*/ 8994802 w 12192000"/>
              <a:gd name="connsiteY20" fmla="*/ 5098943 h 5937866"/>
              <a:gd name="connsiteX21" fmla="*/ 6994655 w 12192000"/>
              <a:gd name="connsiteY21" fmla="*/ 5556202 h 5937866"/>
              <a:gd name="connsiteX22" fmla="*/ 6287534 w 12192000"/>
              <a:gd name="connsiteY22" fmla="*/ 4934764 h 5937866"/>
              <a:gd name="connsiteX23" fmla="*/ 4392596 w 12192000"/>
              <a:gd name="connsiteY23" fmla="*/ 4612909 h 5937866"/>
              <a:gd name="connsiteX24" fmla="*/ 3014500 w 12192000"/>
              <a:gd name="connsiteY24" fmla="*/ 5320787 h 5937866"/>
              <a:gd name="connsiteX25" fmla="*/ 86414 w 12192000"/>
              <a:gd name="connsiteY25" fmla="*/ 5123870 h 5937866"/>
              <a:gd name="connsiteX26" fmla="*/ 0 w 12192000"/>
              <a:gd name="connsiteY26" fmla="*/ 5061131 h 5937866"/>
              <a:gd name="connsiteX27" fmla="*/ 0 w 12192000"/>
              <a:gd name="connsiteY27" fmla="*/ 3267075 h 5937866"/>
              <a:gd name="connsiteX28" fmla="*/ 0 w 12192000"/>
              <a:gd name="connsiteY28" fmla="*/ 1220565 h 59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192000" h="5937866">
                <a:moveTo>
                  <a:pt x="8930642" y="5494299"/>
                </a:moveTo>
                <a:cubicBezTo>
                  <a:pt x="9016941" y="5488946"/>
                  <a:pt x="9102130" y="5534635"/>
                  <a:pt x="9143134" y="5616927"/>
                </a:cubicBezTo>
                <a:cubicBezTo>
                  <a:pt x="9197806" y="5726652"/>
                  <a:pt x="9153221" y="5859898"/>
                  <a:pt x="9043549" y="5914543"/>
                </a:cubicBezTo>
                <a:cubicBezTo>
                  <a:pt x="8933879" y="5969187"/>
                  <a:pt x="8800655" y="5924538"/>
                  <a:pt x="8745984" y="5814814"/>
                </a:cubicBezTo>
                <a:cubicBezTo>
                  <a:pt x="8691311" y="5705090"/>
                  <a:pt x="8735897" y="5571844"/>
                  <a:pt x="8845568" y="5517199"/>
                </a:cubicBezTo>
                <a:cubicBezTo>
                  <a:pt x="8872986" y="5503538"/>
                  <a:pt x="8901875" y="5496082"/>
                  <a:pt x="8930642" y="5494299"/>
                </a:cubicBezTo>
                <a:close/>
                <a:moveTo>
                  <a:pt x="9842642" y="4939308"/>
                </a:moveTo>
                <a:cubicBezTo>
                  <a:pt x="10017101" y="4928488"/>
                  <a:pt x="10189318" y="5020851"/>
                  <a:pt x="10272210" y="5187210"/>
                </a:cubicBezTo>
                <a:cubicBezTo>
                  <a:pt x="10382732" y="5409023"/>
                  <a:pt x="10292600" y="5678390"/>
                  <a:pt x="10070896" y="5788857"/>
                </a:cubicBezTo>
                <a:cubicBezTo>
                  <a:pt x="9849191" y="5899325"/>
                  <a:pt x="9579867" y="5809063"/>
                  <a:pt x="9469346" y="5587251"/>
                </a:cubicBezTo>
                <a:cubicBezTo>
                  <a:pt x="9358824" y="5365438"/>
                  <a:pt x="9448956" y="5096071"/>
                  <a:pt x="9670660" y="4985603"/>
                </a:cubicBezTo>
                <a:cubicBezTo>
                  <a:pt x="9726087" y="4957986"/>
                  <a:pt x="9784490" y="4942914"/>
                  <a:pt x="9842642" y="4939308"/>
                </a:cubicBez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1220565"/>
                </a:lnTo>
                <a:lnTo>
                  <a:pt x="12192000" y="1220565"/>
                </a:lnTo>
                <a:lnTo>
                  <a:pt x="12192000" y="4590456"/>
                </a:lnTo>
                <a:lnTo>
                  <a:pt x="12124015" y="4631278"/>
                </a:lnTo>
                <a:cubicBezTo>
                  <a:pt x="11792041" y="4802103"/>
                  <a:pt x="11443617" y="4797817"/>
                  <a:pt x="11077457" y="4722290"/>
                </a:cubicBezTo>
                <a:cubicBezTo>
                  <a:pt x="10679189" y="4640425"/>
                  <a:pt x="10271734" y="4578846"/>
                  <a:pt x="9867246" y="4572157"/>
                </a:cubicBezTo>
                <a:cubicBezTo>
                  <a:pt x="9492336" y="4566176"/>
                  <a:pt x="9239136" y="4846894"/>
                  <a:pt x="8994802" y="5098943"/>
                </a:cubicBezTo>
                <a:cubicBezTo>
                  <a:pt x="8385954" y="5727243"/>
                  <a:pt x="7695268" y="5911307"/>
                  <a:pt x="6994655" y="5556202"/>
                </a:cubicBezTo>
                <a:cubicBezTo>
                  <a:pt x="6722938" y="5418487"/>
                  <a:pt x="6494843" y="5169191"/>
                  <a:pt x="6287534" y="4934764"/>
                </a:cubicBezTo>
                <a:cubicBezTo>
                  <a:pt x="5731733" y="4306056"/>
                  <a:pt x="5043559" y="4288064"/>
                  <a:pt x="4392596" y="4612909"/>
                </a:cubicBezTo>
                <a:cubicBezTo>
                  <a:pt x="3930423" y="4844432"/>
                  <a:pt x="3492022" y="5129169"/>
                  <a:pt x="3014500" y="5320787"/>
                </a:cubicBezTo>
                <a:cubicBezTo>
                  <a:pt x="1977820" y="5738974"/>
                  <a:pt x="973242" y="5720051"/>
                  <a:pt x="86414" y="5123870"/>
                </a:cubicBezTo>
                <a:lnTo>
                  <a:pt x="0" y="5061131"/>
                </a:lnTo>
                <a:lnTo>
                  <a:pt x="0" y="3267075"/>
                </a:lnTo>
                <a:lnTo>
                  <a:pt x="0" y="12205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AB54D-EA64-A066-B556-22DEC27C71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049" y="0"/>
            <a:ext cx="12188952" cy="754068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400" b="1" dirty="0">
                <a:highlight>
                  <a:srgbClr val="FFFF00"/>
                </a:highlight>
              </a:rPr>
              <a:t>REAL TIME USAGE OF STABLE DIFFUSION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F7BC54-0102-2D03-FC97-26531BFC45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54068"/>
            <a:ext cx="12185903" cy="6103932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chemeClr val="accent3"/>
                </a:solidFill>
              </a:rPr>
              <a:t>1. Social Media Content Creation</a:t>
            </a:r>
          </a:p>
          <a:p>
            <a:pPr>
              <a:lnSpc>
                <a:spcPct val="100000"/>
              </a:lnSpc>
            </a:pPr>
            <a:r>
              <a:rPr lang="en-US" sz="1400" b="1" dirty="0">
                <a:highlight>
                  <a:srgbClr val="FFFF00"/>
                </a:highlight>
              </a:rPr>
              <a:t>Scenario</a:t>
            </a:r>
            <a:r>
              <a:rPr lang="en-US" sz="1400" b="1" dirty="0"/>
              <a:t>: Influencers and marketers use Stable Diffusion to generate eye-catching images for social media posts.</a:t>
            </a:r>
          </a:p>
          <a:p>
            <a:pPr>
              <a:lnSpc>
                <a:spcPct val="100000"/>
              </a:lnSpc>
            </a:pPr>
            <a:r>
              <a:rPr lang="en-US" sz="1400" b="1" dirty="0">
                <a:highlight>
                  <a:srgbClr val="FFFF00"/>
                </a:highlight>
              </a:rPr>
              <a:t>Real-Time Use: </a:t>
            </a:r>
            <a:r>
              <a:rPr lang="en-US" sz="1400" b="1" dirty="0"/>
              <a:t>By entering a prompt related to trending topics or themes, they can quickly create unique visuals that engage their audience, reducing the time needed for graphic design.</a:t>
            </a:r>
          </a:p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chemeClr val="accent3"/>
                </a:solidFill>
              </a:rPr>
              <a:t>2. Video Game Asset Generation</a:t>
            </a:r>
          </a:p>
          <a:p>
            <a:pPr>
              <a:lnSpc>
                <a:spcPct val="100000"/>
              </a:lnSpc>
            </a:pPr>
            <a:r>
              <a:rPr lang="en-US" sz="1400" b="1" dirty="0">
                <a:highlight>
                  <a:srgbClr val="FFFF00"/>
                </a:highlight>
              </a:rPr>
              <a:t>Scenario</a:t>
            </a:r>
            <a:r>
              <a:rPr lang="en-US" sz="1400" b="1" dirty="0"/>
              <a:t>: Indie game developers use Stable Diffusion to create concept art and character designs.</a:t>
            </a:r>
          </a:p>
          <a:p>
            <a:pPr>
              <a:lnSpc>
                <a:spcPct val="100000"/>
              </a:lnSpc>
            </a:pPr>
            <a:r>
              <a:rPr lang="en-US" sz="1400" b="1" dirty="0">
                <a:highlight>
                  <a:srgbClr val="FFFF00"/>
                </a:highlight>
              </a:rPr>
              <a:t>Real-Time Use</a:t>
            </a:r>
            <a:r>
              <a:rPr lang="en-US" sz="1400" b="1" dirty="0"/>
              <a:t>: During brainstorming sessions, developers input descriptions of characters or environments to generate visuals instantly, helping the team visualize ideas more effectively and iterate rapidly.</a:t>
            </a:r>
          </a:p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chemeClr val="accent3"/>
                </a:solidFill>
              </a:rPr>
              <a:t>3. Product Visualization</a:t>
            </a:r>
          </a:p>
          <a:p>
            <a:pPr>
              <a:lnSpc>
                <a:spcPct val="100000"/>
              </a:lnSpc>
            </a:pPr>
            <a:r>
              <a:rPr lang="en-US" sz="1400" b="1" dirty="0">
                <a:highlight>
                  <a:srgbClr val="FFFF00"/>
                </a:highlight>
              </a:rPr>
              <a:t>Scenario: </a:t>
            </a:r>
            <a:r>
              <a:rPr lang="en-US" sz="1400" b="1" dirty="0"/>
              <a:t>E-commerce businesses leverage Stable Diffusion to visualize products in various settings or styles.</a:t>
            </a:r>
          </a:p>
          <a:p>
            <a:pPr>
              <a:lnSpc>
                <a:spcPct val="100000"/>
              </a:lnSpc>
            </a:pPr>
            <a:r>
              <a:rPr lang="en-US" sz="1400" b="1" dirty="0">
                <a:highlight>
                  <a:srgbClr val="FFFF00"/>
                </a:highlight>
              </a:rPr>
              <a:t>Real-Time Use: </a:t>
            </a:r>
            <a:r>
              <a:rPr lang="en-US" sz="1400" b="1" dirty="0"/>
              <a:t>A fashion retailer can input descriptions of clothing items along with desired backgrounds, generating promotional images that showcase products in different contexts without the need for expensive photo shoots.</a:t>
            </a:r>
          </a:p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chemeClr val="accent3"/>
                </a:solidFill>
              </a:rPr>
              <a:t>4. Art Generation for Streaming</a:t>
            </a:r>
          </a:p>
          <a:p>
            <a:pPr>
              <a:lnSpc>
                <a:spcPct val="100000"/>
              </a:lnSpc>
            </a:pPr>
            <a:r>
              <a:rPr lang="en-US" sz="1400" b="1" dirty="0">
                <a:highlight>
                  <a:srgbClr val="FFFF00"/>
                </a:highlight>
              </a:rPr>
              <a:t>Scenario: </a:t>
            </a:r>
            <a:r>
              <a:rPr lang="en-US" sz="1400" b="1" dirty="0"/>
              <a:t>Artists streaming on platforms like Twitch use Stable Diffusion to create art live for their audience.</a:t>
            </a:r>
          </a:p>
          <a:p>
            <a:pPr>
              <a:lnSpc>
                <a:spcPct val="100000"/>
              </a:lnSpc>
            </a:pPr>
            <a:r>
              <a:rPr lang="en-US" sz="1400" b="1" dirty="0">
                <a:highlight>
                  <a:srgbClr val="FFFF00"/>
                </a:highlight>
              </a:rPr>
              <a:t>Real-Time Use: </a:t>
            </a:r>
            <a:r>
              <a:rPr lang="en-US" sz="1400" b="1" dirty="0"/>
              <a:t>As they receive prompts from viewers, they can generate images on the spot, providing an interactive experience that engages their audience and showcases the capabilities of AI.</a:t>
            </a:r>
          </a:p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chemeClr val="accent3"/>
                </a:solidFill>
              </a:rPr>
              <a:t>5. Storyboarding in Animation</a:t>
            </a:r>
          </a:p>
          <a:p>
            <a:pPr>
              <a:lnSpc>
                <a:spcPct val="100000"/>
              </a:lnSpc>
            </a:pPr>
            <a:r>
              <a:rPr lang="en-US" sz="1400" b="1" dirty="0">
                <a:highlight>
                  <a:srgbClr val="FFFF00"/>
                </a:highlight>
              </a:rPr>
              <a:t>Scenario: </a:t>
            </a:r>
            <a:r>
              <a:rPr lang="en-US" sz="1400" b="1" dirty="0"/>
              <a:t>Animation studios use Stable Diffusion during the pre-production phase to visualize scenes and character designs.</a:t>
            </a:r>
          </a:p>
          <a:p>
            <a:pPr>
              <a:lnSpc>
                <a:spcPct val="100000"/>
              </a:lnSpc>
            </a:pPr>
            <a:r>
              <a:rPr lang="en-US" sz="1400" b="1" dirty="0">
                <a:highlight>
                  <a:srgbClr val="FFFF00"/>
                </a:highlight>
              </a:rPr>
              <a:t>Real-Time Use: </a:t>
            </a:r>
            <a:r>
              <a:rPr lang="en-US" sz="1400" b="1" dirty="0"/>
              <a:t>Writers and directors input scene descriptions to generate storyboards quickly, allowing them to iterate on ideas and share visuals with the team.</a:t>
            </a:r>
          </a:p>
          <a:p>
            <a:pPr>
              <a:lnSpc>
                <a:spcPct val="100000"/>
              </a:lnSpc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584292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71BEF-D6B1-2F08-0169-CF8602D05C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924231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IN" sz="4400" b="1" dirty="0">
                <a:highlight>
                  <a:srgbClr val="FFFF00"/>
                </a:highlight>
              </a:rPr>
              <a:t>HAND’S ON STABLE DIFFUSION PROJECT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20BA04-415B-8F01-0A27-FE4B31F37D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924232"/>
            <a:ext cx="12192000" cy="5933767"/>
          </a:xfrm>
        </p:spPr>
        <p:txBody>
          <a:bodyPr>
            <a:normAutofit lnSpcReduction="10000"/>
          </a:bodyPr>
          <a:lstStyle/>
          <a:p>
            <a:r>
              <a:rPr lang="en-IN" sz="3200" b="1" dirty="0">
                <a:solidFill>
                  <a:schemeClr val="accent3">
                    <a:lumMod val="50000"/>
                  </a:schemeClr>
                </a:solidFill>
              </a:rPr>
              <a:t>PROJECT-1:</a:t>
            </a:r>
          </a:p>
          <a:p>
            <a:r>
              <a:rPr lang="en-IN" b="1" dirty="0"/>
              <a:t>	TEXT PROMPT TO IMAGE GENERATION USING GITHUB </a:t>
            </a:r>
          </a:p>
          <a:p>
            <a:r>
              <a:rPr lang="en-IN" sz="3200" b="1" dirty="0">
                <a:solidFill>
                  <a:schemeClr val="accent3">
                    <a:lumMod val="50000"/>
                  </a:schemeClr>
                </a:solidFill>
              </a:rPr>
              <a:t>PROJECT-2:</a:t>
            </a:r>
          </a:p>
          <a:p>
            <a:r>
              <a:rPr lang="en-IN" b="1" dirty="0"/>
              <a:t>	TEXT PROMPT TO IMAGE GENERATION USING HUGGING FACE &amp; PYTORCH</a:t>
            </a:r>
          </a:p>
          <a:p>
            <a:r>
              <a:rPr lang="en-IN" sz="3200" b="1" dirty="0">
                <a:solidFill>
                  <a:schemeClr val="accent3">
                    <a:lumMod val="50000"/>
                  </a:schemeClr>
                </a:solidFill>
              </a:rPr>
              <a:t>PROJECT-3: </a:t>
            </a:r>
          </a:p>
          <a:p>
            <a:r>
              <a:rPr lang="en-IN" b="1" dirty="0"/>
              <a:t>	IMAGE GENERATION FROM MULTILANGUAGE TEXTPROMPT</a:t>
            </a:r>
          </a:p>
          <a:p>
            <a:r>
              <a:rPr lang="en-IN" b="1" dirty="0"/>
              <a:t>			OPEN-AI (GPT-4 </a:t>
            </a:r>
            <a:r>
              <a:rPr lang="en-IN" b="1" dirty="0" err="1"/>
              <a:t>Omini</a:t>
            </a:r>
            <a:r>
              <a:rPr lang="en-IN" b="1" dirty="0"/>
              <a:t> Model)</a:t>
            </a:r>
          </a:p>
          <a:p>
            <a:r>
              <a:rPr lang="en-IN" b="1" dirty="0"/>
              <a:t>			LANGTRAN</a:t>
            </a:r>
          </a:p>
          <a:p>
            <a:r>
              <a:rPr lang="en-IN" b="1" dirty="0"/>
              <a:t>			HUGGING FACE</a:t>
            </a:r>
          </a:p>
          <a:p>
            <a:r>
              <a:rPr lang="en-IN" b="1" dirty="0"/>
              <a:t>			STABLE DIFFUSION PIPELINE</a:t>
            </a:r>
          </a:p>
          <a:p>
            <a:r>
              <a:rPr lang="en-IN" b="1" dirty="0"/>
              <a:t>			PYTORCH</a:t>
            </a:r>
          </a:p>
          <a:p>
            <a:r>
              <a:rPr lang="en-IN" b="1" dirty="0"/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3809271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2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6BDF4D-4826-490A-8307-7247A295E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E0FF4CF-25CB-4537-9BBF-28B36C76B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5328" y="1352190"/>
            <a:ext cx="7823624" cy="5505810"/>
          </a:xfrm>
          <a:custGeom>
            <a:avLst/>
            <a:gdLst>
              <a:gd name="connsiteX0" fmla="*/ 7676365 w 7823624"/>
              <a:gd name="connsiteY0" fmla="*/ 583688 h 5505810"/>
              <a:gd name="connsiteX1" fmla="*/ 7807957 w 7823624"/>
              <a:gd name="connsiteY1" fmla="*/ 609260 h 5505810"/>
              <a:gd name="connsiteX2" fmla="*/ 7823624 w 7823624"/>
              <a:gd name="connsiteY2" fmla="*/ 618028 h 5505810"/>
              <a:gd name="connsiteX3" fmla="*/ 7823624 w 7823624"/>
              <a:gd name="connsiteY3" fmla="*/ 1356037 h 5505810"/>
              <a:gd name="connsiteX4" fmla="*/ 7783921 w 7823624"/>
              <a:gd name="connsiteY4" fmla="*/ 1367061 h 5505810"/>
              <a:gd name="connsiteX5" fmla="*/ 7685829 w 7823624"/>
              <a:gd name="connsiteY5" fmla="*/ 1364631 h 5505810"/>
              <a:gd name="connsiteX6" fmla="*/ 7556041 w 7823624"/>
              <a:gd name="connsiteY6" fmla="*/ 1308528 h 5505810"/>
              <a:gd name="connsiteX7" fmla="*/ 7412440 w 7823624"/>
              <a:gd name="connsiteY7" fmla="*/ 765688 h 5505810"/>
              <a:gd name="connsiteX8" fmla="*/ 7676365 w 7823624"/>
              <a:gd name="connsiteY8" fmla="*/ 583688 h 5505810"/>
              <a:gd name="connsiteX9" fmla="*/ 7062857 w 7823624"/>
              <a:gd name="connsiteY9" fmla="*/ 396783 h 5505810"/>
              <a:gd name="connsiteX10" fmla="*/ 7127059 w 7823624"/>
              <a:gd name="connsiteY10" fmla="*/ 424535 h 5505810"/>
              <a:gd name="connsiteX11" fmla="*/ 7198094 w 7823624"/>
              <a:gd name="connsiteY11" fmla="*/ 693059 h 5505810"/>
              <a:gd name="connsiteX12" fmla="*/ 7099157 w 7823624"/>
              <a:gd name="connsiteY12" fmla="*/ 778505 h 5505810"/>
              <a:gd name="connsiteX13" fmla="*/ 7034998 w 7823624"/>
              <a:gd name="connsiteY13" fmla="*/ 780480 h 5505810"/>
              <a:gd name="connsiteX14" fmla="*/ 6970795 w 7823624"/>
              <a:gd name="connsiteY14" fmla="*/ 752727 h 5505810"/>
              <a:gd name="connsiteX15" fmla="*/ 6899760 w 7823624"/>
              <a:gd name="connsiteY15" fmla="*/ 484203 h 5505810"/>
              <a:gd name="connsiteX16" fmla="*/ 7062857 w 7823624"/>
              <a:gd name="connsiteY16" fmla="*/ 396783 h 5505810"/>
              <a:gd name="connsiteX17" fmla="*/ 1780739 w 7823624"/>
              <a:gd name="connsiteY17" fmla="*/ 1190 h 5505810"/>
              <a:gd name="connsiteX18" fmla="*/ 2850847 w 7823624"/>
              <a:gd name="connsiteY18" fmla="*/ 384530 h 5505810"/>
              <a:gd name="connsiteX19" fmla="*/ 3809413 w 7823624"/>
              <a:gd name="connsiteY19" fmla="*/ 1153764 h 5505810"/>
              <a:gd name="connsiteX20" fmla="*/ 5160376 w 7823624"/>
              <a:gd name="connsiteY20" fmla="*/ 1003825 h 5505810"/>
              <a:gd name="connsiteX21" fmla="*/ 5677238 w 7823624"/>
              <a:gd name="connsiteY21" fmla="*/ 480424 h 5505810"/>
              <a:gd name="connsiteX22" fmla="*/ 7082965 w 7823624"/>
              <a:gd name="connsiteY22" fmla="*/ 1065272 h 5505810"/>
              <a:gd name="connsiteX23" fmla="*/ 7687818 w 7823624"/>
              <a:gd name="connsiteY23" fmla="*/ 1625585 h 5505810"/>
              <a:gd name="connsiteX24" fmla="*/ 7823624 w 7823624"/>
              <a:gd name="connsiteY24" fmla="*/ 1633445 h 5505810"/>
              <a:gd name="connsiteX25" fmla="*/ 7823624 w 7823624"/>
              <a:gd name="connsiteY25" fmla="*/ 5505810 h 5505810"/>
              <a:gd name="connsiteX26" fmla="*/ 1419133 w 7823624"/>
              <a:gd name="connsiteY26" fmla="*/ 5505810 h 5505810"/>
              <a:gd name="connsiteX27" fmla="*/ 1422753 w 7823624"/>
              <a:gd name="connsiteY27" fmla="*/ 5488656 h 5505810"/>
              <a:gd name="connsiteX28" fmla="*/ 1543078 w 7823624"/>
              <a:gd name="connsiteY28" fmla="*/ 4961644 h 5505810"/>
              <a:gd name="connsiteX29" fmla="*/ 1334564 w 7823624"/>
              <a:gd name="connsiteY29" fmla="*/ 4133160 h 5505810"/>
              <a:gd name="connsiteX30" fmla="*/ 670875 w 7823624"/>
              <a:gd name="connsiteY30" fmla="*/ 3489628 h 5505810"/>
              <a:gd name="connsiteX31" fmla="*/ 499515 w 7823624"/>
              <a:gd name="connsiteY31" fmla="*/ 578153 h 5505810"/>
              <a:gd name="connsiteX32" fmla="*/ 1780739 w 7823624"/>
              <a:gd name="connsiteY32" fmla="*/ 1190 h 550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7823624" h="5505810">
                <a:moveTo>
                  <a:pt x="7676365" y="583688"/>
                </a:moveTo>
                <a:cubicBezTo>
                  <a:pt x="7719804" y="582304"/>
                  <a:pt x="7764489" y="590613"/>
                  <a:pt x="7807957" y="609260"/>
                </a:cubicBezTo>
                <a:lnTo>
                  <a:pt x="7823624" y="618028"/>
                </a:lnTo>
                <a:lnTo>
                  <a:pt x="7823624" y="1356037"/>
                </a:lnTo>
                <a:lnTo>
                  <a:pt x="7783921" y="1367061"/>
                </a:lnTo>
                <a:cubicBezTo>
                  <a:pt x="7751926" y="1371702"/>
                  <a:pt x="7718882" y="1370985"/>
                  <a:pt x="7685829" y="1364631"/>
                </a:cubicBezTo>
                <a:cubicBezTo>
                  <a:pt x="7641760" y="1356162"/>
                  <a:pt x="7597675" y="1337676"/>
                  <a:pt x="7556041" y="1308528"/>
                </a:cubicBezTo>
                <a:cubicBezTo>
                  <a:pt x="7389499" y="1191936"/>
                  <a:pt x="7325207" y="948898"/>
                  <a:pt x="7412440" y="765688"/>
                </a:cubicBezTo>
                <a:cubicBezTo>
                  <a:pt x="7466961" y="651183"/>
                  <a:pt x="7567768" y="587147"/>
                  <a:pt x="7676365" y="583688"/>
                </a:cubicBezTo>
                <a:close/>
                <a:moveTo>
                  <a:pt x="7062857" y="396783"/>
                </a:moveTo>
                <a:cubicBezTo>
                  <a:pt x="7084657" y="400973"/>
                  <a:pt x="7106463" y="410117"/>
                  <a:pt x="7127059" y="424535"/>
                </a:cubicBezTo>
                <a:cubicBezTo>
                  <a:pt x="7209442" y="482209"/>
                  <a:pt x="7241245" y="602433"/>
                  <a:pt x="7198094" y="693059"/>
                </a:cubicBezTo>
                <a:cubicBezTo>
                  <a:pt x="7176519" y="738373"/>
                  <a:pt x="7140289" y="767709"/>
                  <a:pt x="7099157" y="778505"/>
                </a:cubicBezTo>
                <a:cubicBezTo>
                  <a:pt x="7078590" y="783905"/>
                  <a:pt x="7056797" y="784670"/>
                  <a:pt x="7034998" y="780480"/>
                </a:cubicBezTo>
                <a:cubicBezTo>
                  <a:pt x="7013198" y="776289"/>
                  <a:pt x="6991391" y="767146"/>
                  <a:pt x="6970795" y="752727"/>
                </a:cubicBezTo>
                <a:cubicBezTo>
                  <a:pt x="6888412" y="695052"/>
                  <a:pt x="6856608" y="574829"/>
                  <a:pt x="6899760" y="484203"/>
                </a:cubicBezTo>
                <a:cubicBezTo>
                  <a:pt x="6932124" y="416232"/>
                  <a:pt x="6997458" y="384213"/>
                  <a:pt x="7062857" y="396783"/>
                </a:cubicBezTo>
                <a:close/>
                <a:moveTo>
                  <a:pt x="1780739" y="1190"/>
                </a:moveTo>
                <a:cubicBezTo>
                  <a:pt x="2129768" y="14988"/>
                  <a:pt x="2488852" y="148495"/>
                  <a:pt x="2850847" y="384530"/>
                </a:cubicBezTo>
                <a:cubicBezTo>
                  <a:pt x="3184362" y="601036"/>
                  <a:pt x="3487788" y="901267"/>
                  <a:pt x="3809413" y="1153764"/>
                </a:cubicBezTo>
                <a:cubicBezTo>
                  <a:pt x="4262448" y="1508236"/>
                  <a:pt x="4750558" y="1545992"/>
                  <a:pt x="5160376" y="1003825"/>
                </a:cubicBezTo>
                <a:cubicBezTo>
                  <a:pt x="5313232" y="801671"/>
                  <a:pt x="5481196" y="587300"/>
                  <a:pt x="5677238" y="480424"/>
                </a:cubicBezTo>
                <a:cubicBezTo>
                  <a:pt x="6182723" y="204840"/>
                  <a:pt x="6667481" y="431193"/>
                  <a:pt x="7082965" y="1065272"/>
                </a:cubicBezTo>
                <a:cubicBezTo>
                  <a:pt x="7249706" y="1319645"/>
                  <a:pt x="7421998" y="1601453"/>
                  <a:pt x="7687818" y="1625585"/>
                </a:cubicBezTo>
                <a:lnTo>
                  <a:pt x="7823624" y="1633445"/>
                </a:lnTo>
                <a:lnTo>
                  <a:pt x="7823624" y="5505810"/>
                </a:lnTo>
                <a:lnTo>
                  <a:pt x="1419133" y="5505810"/>
                </a:lnTo>
                <a:lnTo>
                  <a:pt x="1422753" y="5488656"/>
                </a:lnTo>
                <a:cubicBezTo>
                  <a:pt x="1462649" y="5312984"/>
                  <a:pt x="1506176" y="5138278"/>
                  <a:pt x="1543078" y="4961644"/>
                </a:cubicBezTo>
                <a:cubicBezTo>
                  <a:pt x="1609806" y="4640258"/>
                  <a:pt x="1539760" y="4343419"/>
                  <a:pt x="1334564" y="4133160"/>
                </a:cubicBezTo>
                <a:cubicBezTo>
                  <a:pt x="1117562" y="3910930"/>
                  <a:pt x="900716" y="3685928"/>
                  <a:pt x="670875" y="3489628"/>
                </a:cubicBezTo>
                <a:cubicBezTo>
                  <a:pt x="-321639" y="2642174"/>
                  <a:pt x="-67393" y="1165752"/>
                  <a:pt x="499515" y="578153"/>
                </a:cubicBezTo>
                <a:cubicBezTo>
                  <a:pt x="899852" y="163598"/>
                  <a:pt x="1331986" y="-16550"/>
                  <a:pt x="1780739" y="119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18A01C-1551-9051-53BB-A26E138A65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242" y="137651"/>
            <a:ext cx="11948158" cy="1358151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400" b="1" dirty="0">
                <a:highlight>
                  <a:srgbClr val="FFFF00"/>
                </a:highlight>
              </a:rPr>
              <a:t>LET’S EXPLORE FEW WEBSITES WHICH INTEGRATE WITH STABLE DIFFUSON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E39DDE-0918-8C77-2419-FE1D9F83D7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241" y="1679407"/>
            <a:ext cx="8094142" cy="4945625"/>
          </a:xfr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70C0"/>
                </a:solidFill>
              </a:rPr>
              <a:t>Stable Diffusion Integration with Hugging Face: (stability/stable-diffusion) </a:t>
            </a:r>
            <a:r>
              <a:rPr lang="en-US" b="1" dirty="0">
                <a:solidFill>
                  <a:srgbClr val="0070C0"/>
                </a:solidFill>
                <a:sym typeface="Wingdings" panose="05000000000000000000" pitchFamily="2" charset="2"/>
              </a:rPr>
              <a:t></a:t>
            </a:r>
            <a:endParaRPr lang="en-US" b="1" dirty="0">
              <a:solidFill>
                <a:srgbClr val="0070C0"/>
              </a:solidFill>
            </a:endParaRPr>
          </a:p>
          <a:p>
            <a:pPr>
              <a:lnSpc>
                <a:spcPct val="100000"/>
              </a:lnSpc>
            </a:pPr>
            <a:r>
              <a:rPr lang="en-US" b="1" u="sng" dirty="0"/>
              <a:t>https://huggingface.co/spaces/stabilityai/stable-diffusion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70C0"/>
                </a:solidFill>
              </a:rPr>
              <a:t>Let’s understand from Wikipedia </a:t>
            </a:r>
            <a:r>
              <a:rPr lang="en-US" b="1" dirty="0">
                <a:solidFill>
                  <a:srgbClr val="0070C0"/>
                </a:solidFill>
                <a:sym typeface="Wingdings" panose="05000000000000000000" pitchFamily="2" charset="2"/>
              </a:rPr>
              <a:t></a:t>
            </a:r>
            <a:endParaRPr lang="en-US" b="1" dirty="0">
              <a:solidFill>
                <a:srgbClr val="0070C0"/>
              </a:solidFill>
            </a:endParaRPr>
          </a:p>
          <a:p>
            <a:pPr>
              <a:lnSpc>
                <a:spcPct val="100000"/>
              </a:lnSpc>
            </a:pPr>
            <a:r>
              <a:rPr lang="en-US" b="1" u="sng" dirty="0"/>
              <a:t>https://en.wikipedia.org/wiki/Stable_Diffusion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70C0"/>
                </a:solidFill>
              </a:rPr>
              <a:t>Stable Diffusion </a:t>
            </a:r>
            <a:r>
              <a:rPr lang="en-US" b="1" dirty="0" err="1">
                <a:solidFill>
                  <a:srgbClr val="0070C0"/>
                </a:solidFill>
              </a:rPr>
              <a:t>Github</a:t>
            </a:r>
            <a:r>
              <a:rPr lang="en-US" b="1" dirty="0">
                <a:solidFill>
                  <a:srgbClr val="0070C0"/>
                </a:solidFill>
                <a:sym typeface="Wingdings" panose="05000000000000000000" pitchFamily="2" charset="2"/>
              </a:rPr>
              <a:t></a:t>
            </a:r>
            <a:endParaRPr lang="en-US" b="1" dirty="0">
              <a:solidFill>
                <a:srgbClr val="0070C0"/>
              </a:solidFill>
            </a:endParaRPr>
          </a:p>
          <a:p>
            <a:pPr>
              <a:lnSpc>
                <a:spcPct val="100000"/>
              </a:lnSpc>
            </a:pPr>
            <a:r>
              <a:rPr lang="en-US" b="1" u="sng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https://github.com/CompVis/stable-diffusion</a:t>
            </a:r>
            <a:endParaRPr lang="en-US" b="1" u="sng" dirty="0"/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70C0"/>
                </a:solidFill>
              </a:rPr>
              <a:t>CLIP MODEL &amp; VAE AUTOENCODER &amp; GENERATIVE AI</a:t>
            </a:r>
            <a:r>
              <a:rPr lang="en-US" b="1" dirty="0">
                <a:solidFill>
                  <a:srgbClr val="0070C0"/>
                </a:solidFill>
                <a:sym typeface="Wingdings" panose="05000000000000000000" pitchFamily="2" charset="2"/>
              </a:rPr>
              <a:t></a:t>
            </a:r>
          </a:p>
          <a:p>
            <a:pPr>
              <a:lnSpc>
                <a:spcPct val="100000"/>
              </a:lnSpc>
            </a:pPr>
            <a:r>
              <a:rPr lang="en-US" b="1" u="sng" dirty="0">
                <a:sym typeface="Wingdings" panose="05000000000000000000" pitchFamily="2" charset="2"/>
              </a:rPr>
              <a:t>youtube.com/watch?v=Xp1MnygECUs&amp;t=6174s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70C0"/>
                </a:solidFill>
                <a:sym typeface="Wingdings" panose="05000000000000000000" pitchFamily="2" charset="2"/>
              </a:rPr>
              <a:t>Stable diffusion hugging face model </a:t>
            </a:r>
          </a:p>
          <a:p>
            <a:pPr>
              <a:lnSpc>
                <a:spcPct val="100000"/>
              </a:lnSpc>
            </a:pPr>
            <a:r>
              <a:rPr lang="en-IN" b="1" u="sng" dirty="0" err="1"/>
              <a:t>image_gen_model_id</a:t>
            </a:r>
            <a:r>
              <a:rPr lang="en-IN" b="1" u="sng" dirty="0"/>
              <a:t> = "</a:t>
            </a:r>
            <a:r>
              <a:rPr lang="en-IN" b="1" u="sng" dirty="0" err="1"/>
              <a:t>stabilityai</a:t>
            </a:r>
            <a:r>
              <a:rPr lang="en-IN" b="1" u="sng" dirty="0"/>
              <a:t>/stable-diffusion-2-1"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lnSpc>
                <a:spcPct val="100000"/>
              </a:lnSpc>
            </a:pPr>
            <a:endParaRPr lang="en-US" b="1" dirty="0"/>
          </a:p>
          <a:p>
            <a:pPr>
              <a:lnSpc>
                <a:spcPct val="100000"/>
              </a:lnSpc>
            </a:pPr>
            <a:endParaRPr lang="en-US" b="1" dirty="0"/>
          </a:p>
          <a:p>
            <a:pPr>
              <a:lnSpc>
                <a:spcPct val="100000"/>
              </a:lnSpc>
            </a:pPr>
            <a:endParaRPr lang="en-US" b="1" dirty="0"/>
          </a:p>
          <a:p>
            <a:pPr>
              <a:lnSpc>
                <a:spcPct val="100000"/>
              </a:lnSpc>
            </a:pPr>
            <a:endParaRPr lang="en-US" b="1" dirty="0"/>
          </a:p>
        </p:txBody>
      </p:sp>
      <p:pic>
        <p:nvPicPr>
          <p:cNvPr id="5" name="Video 4" descr="Box Packages">
            <a:extLst>
              <a:ext uri="{FF2B5EF4-FFF2-40B4-BE49-F238E27FC236}">
                <a16:creationId xmlns:a16="http://schemas.microsoft.com/office/drawing/2014/main" id="{FEA81CB7-E758-6570-3453-4950FF9C12B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r="-1" b="283"/>
          <a:stretch/>
        </p:blipFill>
        <p:spPr>
          <a:xfrm>
            <a:off x="8239432" y="1570804"/>
            <a:ext cx="3949519" cy="459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217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8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14DA0-84CA-E416-CB4C-8A436383F5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983225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IN" sz="4400" b="1">
                <a:highlight>
                  <a:srgbClr val="FFFF00"/>
                </a:highlight>
              </a:rPr>
              <a:t>STABEL DIFFUSION ARCHITECTURE</a:t>
            </a:r>
            <a:endParaRPr lang="en-IN" sz="4400" b="1" dirty="0"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03747C-EAF1-BC1D-47FF-0A87A267A7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983226"/>
            <a:ext cx="12191999" cy="5874773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9" name="Picture 8" descr="A diagram of a software system&#10;&#10;Description automatically generated with medium confidence">
            <a:extLst>
              <a:ext uri="{FF2B5EF4-FFF2-40B4-BE49-F238E27FC236}">
                <a16:creationId xmlns:a16="http://schemas.microsoft.com/office/drawing/2014/main" id="{27318565-B6F0-DD1F-9A9D-394C64C6B4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1" y="983226"/>
            <a:ext cx="7406643" cy="3985014"/>
          </a:xfrm>
          <a:prstGeom prst="rect">
            <a:avLst/>
          </a:prstGeom>
        </p:spPr>
      </p:pic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C1AF13B8-353D-D1AA-B891-D276DDAB9E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6960" y="3768819"/>
            <a:ext cx="7305039" cy="303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018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A5FA6-A0D8-8F7C-2D5A-F87BC2A0DF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73742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IN" sz="3200" b="1" dirty="0">
                <a:highlight>
                  <a:srgbClr val="FFFF00"/>
                </a:highlight>
              </a:rPr>
              <a:t>STABLE DIFFUSION ARCHITECTURE EXPLANATION: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99F414-68AE-E29A-8BE3-682A5D3119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37421"/>
            <a:ext cx="12192000" cy="6120578"/>
          </a:xfrm>
        </p:spPr>
        <p:txBody>
          <a:bodyPr>
            <a:normAutofit fontScale="77500" lnSpcReduction="20000"/>
          </a:bodyPr>
          <a:lstStyle/>
          <a:p>
            <a:endParaRPr lang="en-US" b="1" dirty="0"/>
          </a:p>
          <a:p>
            <a:r>
              <a:rPr lang="en-US" b="1" dirty="0"/>
              <a:t>The process of generating an image from a text prompt, specifically a strawberry sushi image, using a diffusion model. Diffusion models are a class of generative models that learn to gradually denoise noise-corrupted</a:t>
            </a:r>
          </a:p>
          <a:p>
            <a:r>
              <a:rPr lang="en-US" b="1" dirty="0">
                <a:solidFill>
                  <a:srgbClr val="0070C0"/>
                </a:solidFill>
                <a:highlight>
                  <a:srgbClr val="FFFF00"/>
                </a:highlight>
              </a:rPr>
              <a:t>1. CLIP Text Encoder: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Purpose: This component encodes the text prompt "An image of strawberry sushi" into a numerical representation, or embedding.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How it works: The encoder uses a pre-trained model like CLIP (Contrastive Language-Image Pre-training) to understand the meaning of the text and convert it into a format that the model can process.</a:t>
            </a:r>
          </a:p>
          <a:p>
            <a:r>
              <a:rPr lang="en-US" b="1" dirty="0">
                <a:solidFill>
                  <a:srgbClr val="0070C0"/>
                </a:solidFill>
                <a:highlight>
                  <a:srgbClr val="FFFF00"/>
                </a:highlight>
              </a:rPr>
              <a:t>2. Latent Seed: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Purpose: This is a random vector of numbers that serves as the starting point for the image generation process.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How it works: The latent seed is initialized with Gaussian noise, meaning it's filled with random values drawn from a Gaussian distribution.</a:t>
            </a:r>
          </a:p>
          <a:p>
            <a:r>
              <a:rPr lang="en-US" b="1" dirty="0">
                <a:solidFill>
                  <a:srgbClr val="0070C0"/>
                </a:solidFill>
                <a:highlight>
                  <a:srgbClr val="FFFF00"/>
                </a:highlight>
              </a:rPr>
              <a:t>3. Noise Scheduler: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Purpose: This component determines the amount of noise to add or remove at each step of the generation process.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How it works: The noise scheduler follows a pre-defined schedule, gradually decreasing the amount of noise over time.</a:t>
            </a:r>
          </a:p>
          <a:p>
            <a:r>
              <a:rPr lang="en-US" b="1" dirty="0">
                <a:solidFill>
                  <a:srgbClr val="0070C0"/>
                </a:solidFill>
                <a:highlight>
                  <a:srgbClr val="FFFF00"/>
                </a:highlight>
              </a:rPr>
              <a:t>4. U-Net with Attention: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Purpose: This is the core of the diffusion model, responsible for denoising the latent seed.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How it works: The U-Net is a deep neural network architecture that learns to predict the noise pattern present in the latent seed. It uses attention mechanisms to focus on relevant parts of the image.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02954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A5FA6-A0D8-8F7C-2D5A-F87BC2A0DF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766916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IN" sz="3200" b="1" dirty="0">
                <a:highlight>
                  <a:srgbClr val="FFFF00"/>
                </a:highlight>
              </a:rPr>
              <a:t>STABLE DIFFUSION ARCHITECTURE EXPLANATION:2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99F414-68AE-E29A-8BE3-682A5D3119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66917"/>
            <a:ext cx="12192000" cy="609108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rgbClr val="0070C0"/>
                </a:solidFill>
                <a:highlight>
                  <a:srgbClr val="FFFF00"/>
                </a:highlight>
              </a:rPr>
              <a:t>5. Decoder: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Purpose: This component converts the denoised latent representation into a pixel-level image.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How it works: The decoder uses a neural network to map the latent representation to the corresponding pixel values of the output image.</a:t>
            </a:r>
          </a:p>
          <a:p>
            <a:r>
              <a:rPr lang="en-US" b="1" dirty="0">
                <a:solidFill>
                  <a:srgbClr val="0070C0"/>
                </a:solidFill>
                <a:highlight>
                  <a:srgbClr val="FFFF00"/>
                </a:highlight>
              </a:rPr>
              <a:t>6. Repeat N Steps: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Purpose: This indicates that the denoising process is repeated multiple times (N steps) to gradually refine the image.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How it works: At each step, the U-Net predicts the noise, and the noise scheduler updates the latent seed accordingly.</a:t>
            </a:r>
          </a:p>
          <a:p>
            <a:r>
              <a:rPr lang="en-US" b="1" dirty="0">
                <a:solidFill>
                  <a:srgbClr val="0070C0"/>
                </a:solidFill>
                <a:highlight>
                  <a:srgbClr val="FFFF00"/>
                </a:highlight>
              </a:rPr>
              <a:t>Overall Process: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Encoding: The text prompt is encoded into a numerical representation.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Initialization: A latent seed is initialized with Gaussian noise.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Denoising: The U-Net iteratively denoises the latent seed, guided by the noise scheduler and the text embedding.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Decoding: The denoised latent representation is decoded into an image.</a:t>
            </a:r>
          </a:p>
          <a:p>
            <a:r>
              <a:rPr lang="en-US" b="1" dirty="0"/>
              <a:t>The final output is an image of strawberry sushi, generated based on the text prompt and the learned patterns in the diffusion model.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03208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E9248-0328-4559-5F12-8DFEDC6649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491613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IN" sz="2800" b="1" dirty="0">
                <a:highlight>
                  <a:srgbClr val="FFFF00"/>
                </a:highlight>
              </a:rPr>
              <a:t>HUGGING FACE &amp; PY-TORCH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17D39B-6C47-2D10-802A-F7D8F7328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93290"/>
            <a:ext cx="12192000" cy="6464710"/>
          </a:xfrm>
        </p:spPr>
        <p:txBody>
          <a:bodyPr>
            <a:noAutofit/>
          </a:bodyPr>
          <a:lstStyle/>
          <a:p>
            <a:r>
              <a:rPr lang="en-US" sz="1600" b="1" dirty="0"/>
              <a:t>Hugging Face is a company that provides tools and resources for building </a:t>
            </a:r>
            <a:r>
              <a:rPr lang="en-US" sz="1600" b="1" dirty="0" err="1"/>
              <a:t>llm</a:t>
            </a:r>
            <a:r>
              <a:rPr lang="en-US" sz="1600" b="1" dirty="0"/>
              <a:t> applications for generative ai &amp; hugging face most notable for its Transformers library. </a:t>
            </a:r>
          </a:p>
          <a:p>
            <a:r>
              <a:rPr lang="en-US" sz="1600" b="1" dirty="0"/>
              <a:t>The company also has a platform that allows users to share pre trained models and datasets and showcase their work.</a:t>
            </a:r>
          </a:p>
          <a:p>
            <a:r>
              <a:rPr lang="en-US" sz="1600" b="1" dirty="0">
                <a:highlight>
                  <a:srgbClr val="FFFF00"/>
                </a:highlight>
              </a:rPr>
              <a:t>Transformers library: </a:t>
            </a:r>
            <a:r>
              <a:rPr lang="en-US" sz="1600" b="1" dirty="0"/>
              <a:t>This library provides a set of pre-trained models and tools for a variety of NLP tasks, including text classification, question answering, and machine translation.</a:t>
            </a:r>
          </a:p>
          <a:p>
            <a:r>
              <a:rPr lang="en-US" sz="1600" b="1" dirty="0">
                <a:highlight>
                  <a:srgbClr val="FFFF00"/>
                </a:highlight>
              </a:rPr>
              <a:t>Hugging Face Hub: </a:t>
            </a:r>
            <a:r>
              <a:rPr lang="en-US" sz="1600" b="1" dirty="0"/>
              <a:t>This platform allows users to share and discover machine learning models, datasets, and other resources.</a:t>
            </a:r>
          </a:p>
          <a:p>
            <a:r>
              <a:rPr lang="en-US" sz="1600" b="1" dirty="0">
                <a:highlight>
                  <a:srgbClr val="FFFF00"/>
                </a:highlight>
              </a:rPr>
              <a:t>Datasets library: </a:t>
            </a:r>
            <a:r>
              <a:rPr lang="en-US" sz="1600" b="1" dirty="0"/>
              <a:t>This library provides a collection of pre-processed datasets for a variety of machine learning tasks.</a:t>
            </a:r>
          </a:p>
          <a:p>
            <a:r>
              <a:rPr lang="en-US" sz="1600" b="1" dirty="0">
                <a:highlight>
                  <a:srgbClr val="FFFF00"/>
                </a:highlight>
              </a:rPr>
              <a:t>Training and evaluation tools: </a:t>
            </a:r>
            <a:r>
              <a:rPr lang="en-US" sz="1600" b="1" dirty="0"/>
              <a:t>Hugging Face provides tools for training and evaluating machine learning models.</a:t>
            </a:r>
          </a:p>
          <a:p>
            <a:r>
              <a:rPr lang="en-US" sz="1600" b="1" dirty="0"/>
              <a:t>HUGGING FACE AUTH TOKEN CREATION : 	</a:t>
            </a:r>
            <a:r>
              <a:rPr lang="en-US" sz="1600" b="1" dirty="0">
                <a:hlinkClick r:id="rId2"/>
              </a:rPr>
              <a:t>https://huggingface.co/settings/tokens</a:t>
            </a:r>
            <a:endParaRPr lang="en-US" sz="1600" b="1" dirty="0"/>
          </a:p>
          <a:p>
            <a:r>
              <a:rPr lang="en-US" sz="1600" b="1" dirty="0"/>
              <a:t>HUGGING FACE WITH GPT-OMINI MODEL:  	</a:t>
            </a:r>
            <a:r>
              <a:rPr lang="en-US" sz="1600" b="1" dirty="0">
                <a:hlinkClick r:id="rId3"/>
              </a:rPr>
              <a:t>https://huggingface.co/gpt-omni/mini-omni</a:t>
            </a:r>
            <a:endParaRPr lang="en-US" sz="1600" b="1" dirty="0"/>
          </a:p>
          <a:p>
            <a:r>
              <a:rPr lang="en-US" sz="1600" b="1" dirty="0"/>
              <a:t>SAVE THE MODEL WITH : 	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</a:rPr>
              <a:t>gpt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-omni/mini-omni</a:t>
            </a:r>
          </a:p>
          <a:p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highlight>
                  <a:srgbClr val="00FF00"/>
                </a:highlight>
              </a:rPr>
              <a:t>PYTORCH 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     </a:t>
            </a:r>
          </a:p>
          <a:p>
            <a:r>
              <a:rPr lang="en-US" sz="1400" b="1" dirty="0" err="1"/>
              <a:t>PyTorch</a:t>
            </a:r>
            <a:r>
              <a:rPr lang="en-US" sz="1400" b="1" dirty="0"/>
              <a:t> is a popular open-source machine learning library primarily used for deep learning applications. Using </a:t>
            </a:r>
            <a:r>
              <a:rPr lang="en-US" sz="1400" b="1" dirty="0" err="1"/>
              <a:t>pytorch</a:t>
            </a:r>
            <a:r>
              <a:rPr lang="en-US" sz="1400" b="1" dirty="0"/>
              <a:t> create tensors, Neural Network, optimizer, Data loading, dynamic computation graph, Tensors &amp; </a:t>
            </a:r>
            <a:r>
              <a:rPr lang="en-US" sz="1400" b="1" dirty="0" err="1"/>
              <a:t>Gpu</a:t>
            </a:r>
            <a:r>
              <a:rPr lang="en-US" sz="1400" b="1" dirty="0"/>
              <a:t> </a:t>
            </a:r>
            <a:r>
              <a:rPr lang="en-US" sz="1400" b="1" dirty="0" err="1"/>
              <a:t>Excelaration</a:t>
            </a:r>
            <a:r>
              <a:rPr lang="en-US" sz="1400" b="1" dirty="0"/>
              <a:t>, custom loss function, pre build layers &amp; modules, model training &amp; evaluation. </a:t>
            </a:r>
          </a:p>
          <a:p>
            <a:r>
              <a:rPr lang="en-US" sz="1600" b="1" dirty="0">
                <a:solidFill>
                  <a:schemeClr val="tx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PYTORCH DOCUMENTATION :  </a:t>
            </a:r>
            <a:r>
              <a:rPr lang="en-US" sz="1600" b="1" dirty="0">
                <a:solidFill>
                  <a:srgbClr val="3E8FF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https://pypi.org/project/torch/</a:t>
            </a:r>
            <a:endParaRPr lang="en-US" sz="1600" b="1" dirty="0"/>
          </a:p>
          <a:p>
            <a:r>
              <a:rPr lang="en-US" sz="1600" b="1" dirty="0">
                <a:solidFill>
                  <a:schemeClr val="tx2"/>
                </a:solidFill>
              </a:rPr>
              <a:t>PYTORCH GITHU : </a:t>
            </a:r>
            <a:r>
              <a:rPr lang="en-US" sz="1600" b="1" u="sng" dirty="0">
                <a:solidFill>
                  <a:srgbClr val="0070C0"/>
                </a:solidFill>
              </a:rPr>
              <a:t>https://github.com/pytorch/pytorch</a:t>
            </a:r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r>
              <a:rPr lang="en-US" sz="1600" b="1" dirty="0"/>
              <a:t> </a:t>
            </a:r>
          </a:p>
          <a:p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4124863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5224C-ED5F-A1B4-AA14-C6A5D5045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820" y="127820"/>
            <a:ext cx="12192000" cy="648929"/>
          </a:xfrm>
        </p:spPr>
        <p:txBody>
          <a:bodyPr>
            <a:noAutofit/>
          </a:bodyPr>
          <a:lstStyle/>
          <a:p>
            <a:r>
              <a:rPr lang="en-IN" sz="3600" b="1" dirty="0">
                <a:highlight>
                  <a:srgbClr val="FFFF00"/>
                </a:highlight>
              </a:rPr>
              <a:t>GENERATIVE AI PREVIOUS RECORDING SESSION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F7A18-6B5E-FDB0-8EF5-26D972A03C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76749"/>
            <a:ext cx="12192000" cy="6184490"/>
          </a:xfrm>
        </p:spPr>
        <p:txBody>
          <a:bodyPr>
            <a:normAutofit/>
          </a:bodyPr>
          <a:lstStyle/>
          <a:p>
            <a:pPr algn="l">
              <a:lnSpc>
                <a:spcPct val="107000"/>
              </a:lnSpc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1- ChatGPT Tutorial for Developers | Introduction to ChatGPT : </a:t>
            </a:r>
            <a:r>
              <a:rPr lang="en-US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youtube.com/</a:t>
            </a:r>
            <a:r>
              <a:rPr lang="en-US" sz="1800" b="1" kern="100" dirty="0" err="1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watch?v</a:t>
            </a:r>
            <a:r>
              <a:rPr lang="en-US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=SDStCnlITT8</a:t>
            </a:r>
            <a:endParaRPr lang="en-IN" sz="1800" kern="100" dirty="0">
              <a:effectLst/>
              <a:highlight>
                <a:srgbClr val="00FFFF"/>
              </a:highlight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2- Generative AI Workshop :  </a:t>
            </a:r>
            <a:r>
              <a:rPr lang="en-IN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youtube.com/</a:t>
            </a:r>
            <a:r>
              <a:rPr lang="en-IN" sz="1800" b="1" kern="100" dirty="0" err="1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watch?v</a:t>
            </a:r>
            <a:r>
              <a:rPr lang="en-IN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=Xp1MnygECUs</a:t>
            </a:r>
            <a:endParaRPr lang="en-IN" sz="1800" kern="100" dirty="0">
              <a:effectLst/>
              <a:highlight>
                <a:srgbClr val="00FFFF"/>
              </a:highlight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3- LARGE LANGUAGE MODEL : </a:t>
            </a:r>
            <a:r>
              <a:rPr lang="en-IN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youtube.com/</a:t>
            </a:r>
            <a:r>
              <a:rPr lang="en-IN" sz="1800" b="1" kern="100" dirty="0" err="1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watch?v</a:t>
            </a:r>
            <a:r>
              <a:rPr lang="en-IN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=v0w9LXXrsys</a:t>
            </a:r>
            <a:endParaRPr lang="en-IN" sz="1800" kern="100" dirty="0">
              <a:effectLst/>
              <a:highlight>
                <a:srgbClr val="00FFFF"/>
              </a:highlight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4- COMPLETE DATA SCIENCE LIBRARY: </a:t>
            </a:r>
            <a:r>
              <a:rPr lang="en-IN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youtube.com/</a:t>
            </a:r>
            <a:r>
              <a:rPr lang="en-IN" sz="1800" b="1" kern="100" dirty="0" err="1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watch?v</a:t>
            </a:r>
            <a:r>
              <a:rPr lang="en-IN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=MsFhUjFL4vE&amp;t=209s</a:t>
            </a:r>
            <a:endParaRPr lang="en-IN" sz="1800" kern="100" dirty="0">
              <a:effectLst/>
              <a:highlight>
                <a:srgbClr val="00FFFF"/>
              </a:highlight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5-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Know About Data Science &amp; Generative AI: </a:t>
            </a:r>
            <a:r>
              <a:rPr lang="en-US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youtube.com/</a:t>
            </a:r>
            <a:r>
              <a:rPr lang="en-US" sz="1800" b="1" kern="100" dirty="0" err="1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watch?v</a:t>
            </a:r>
            <a:r>
              <a:rPr lang="en-US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=TR_OCx5z-m8</a:t>
            </a:r>
            <a:endParaRPr lang="en-IN" sz="1800" kern="100" dirty="0">
              <a:effectLst/>
              <a:highlight>
                <a:srgbClr val="00FFFF"/>
              </a:highlight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6- Generative AI with </a:t>
            </a:r>
            <a:r>
              <a:rPr lang="en-U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Langchain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Langsmith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OpenAI &amp; </a:t>
            </a:r>
            <a:r>
              <a:rPr lang="en-U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LLMops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	</a:t>
            </a:r>
            <a:r>
              <a:rPr lang="en-US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youtube.com/</a:t>
            </a:r>
            <a:r>
              <a:rPr lang="en-US" sz="1800" b="1" kern="100" dirty="0" err="1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watch?v</a:t>
            </a:r>
            <a:r>
              <a:rPr lang="en-US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=</a:t>
            </a:r>
            <a:r>
              <a:rPr lang="en-US" sz="1800" b="1" kern="100" dirty="0" err="1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MAkXifYHnuw&amp;t</a:t>
            </a:r>
            <a:r>
              <a:rPr lang="en-US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=1320s</a:t>
            </a:r>
            <a:endParaRPr lang="en-IN" sz="1800" kern="100" dirty="0">
              <a:effectLst/>
              <a:highlight>
                <a:srgbClr val="00FFFF"/>
              </a:highlight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7- </a:t>
            </a:r>
            <a:r>
              <a:rPr lang="it-IT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Google Generative AI | Gemini AI: </a:t>
            </a:r>
            <a:r>
              <a:rPr lang="it-IT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youtube.com/watch?v=BDrXdvNh19Q&amp;t=5684s</a:t>
            </a:r>
            <a:endParaRPr lang="en-IN" sz="1800" kern="100" dirty="0">
              <a:effectLst/>
              <a:highlight>
                <a:srgbClr val="00FFFF"/>
              </a:highlight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</a:pPr>
            <a:r>
              <a:rPr lang="it-IT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8-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Gen AI for Build LLM Model Using Lama 3,Hugging Face &amp; </a:t>
            </a:r>
            <a:r>
              <a:rPr lang="en-U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Ollama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: </a:t>
            </a:r>
            <a:r>
              <a:rPr lang="en-US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youtube.com/</a:t>
            </a:r>
            <a:r>
              <a:rPr lang="en-US" sz="1800" b="1" kern="100" dirty="0" err="1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watch?v</a:t>
            </a:r>
            <a:r>
              <a:rPr lang="en-US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=eDN6fAWLNNE&amp;t=5425s</a:t>
            </a:r>
            <a:endParaRPr lang="en-IN" sz="1800" kern="100" dirty="0">
              <a:effectLst/>
              <a:highlight>
                <a:srgbClr val="00FFFF"/>
              </a:highlight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9- GEMMA-9B Integration with GROQ, HUGGINGFACE &amp; LANGCHAIN: </a:t>
            </a:r>
            <a:r>
              <a:rPr lang="en-US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youtube.com/</a:t>
            </a:r>
            <a:r>
              <a:rPr lang="en-US" sz="1800" b="1" kern="100" dirty="0" err="1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watch?v</a:t>
            </a:r>
            <a:r>
              <a:rPr lang="en-US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=Bp1XyvMvedg&amp;t=7086s</a:t>
            </a:r>
            <a:endParaRPr lang="en-IN" sz="1800" kern="100" dirty="0">
              <a:effectLst/>
              <a:highlight>
                <a:srgbClr val="00FFFF"/>
              </a:highlight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10-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NLP: </a:t>
            </a:r>
            <a:r>
              <a:rPr lang="en-IN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youtube.com/</a:t>
            </a:r>
            <a:r>
              <a:rPr lang="en-IN" sz="1800" b="1" kern="100" dirty="0" err="1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watch?v</a:t>
            </a:r>
            <a:r>
              <a:rPr lang="en-IN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=s-xhKH-e8ig&amp;t=5844s</a:t>
            </a:r>
          </a:p>
          <a:p>
            <a:pPr algn="l">
              <a:lnSpc>
                <a:spcPct val="107000"/>
              </a:lnSpc>
            </a:pPr>
            <a:r>
              <a:rPr lang="en-IN" sz="18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11- RAG: </a:t>
            </a:r>
            <a:r>
              <a:rPr lang="en-IN" sz="1800" b="1" kern="100" dirty="0">
                <a:highlight>
                  <a:srgbClr val="00FFFF"/>
                </a:highlight>
                <a:latin typeface="Aptos" panose="020B0004020202020204" pitchFamily="34" charset="0"/>
                <a:cs typeface="Times New Roman" panose="02020603050405020304" pitchFamily="18" charset="0"/>
                <a:hlinkClick r:id="rId2"/>
              </a:rPr>
              <a:t>www.youtube.com/watch?v=8nWjvn8ZKtU&amp;t=7553s</a:t>
            </a:r>
            <a:endParaRPr lang="en-IN" sz="1800" b="1" kern="100" dirty="0">
              <a:highlight>
                <a:srgbClr val="00FFFF"/>
              </a:highlight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</a:pPr>
            <a:r>
              <a:rPr lang="en-IN" sz="19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12-  CREW AI: </a:t>
            </a:r>
            <a:r>
              <a:rPr lang="en-IN" sz="1900" b="1" kern="100" dirty="0">
                <a:highlight>
                  <a:srgbClr val="00FFFF"/>
                </a:highlight>
                <a:latin typeface="Aptos" panose="020B0004020202020204" pitchFamily="34" charset="0"/>
                <a:cs typeface="Times New Roman" panose="02020603050405020304" pitchFamily="18" charset="0"/>
                <a:hlinkClick r:id="rId3"/>
              </a:rPr>
              <a:t>https://www.youtube.com/watch?v=0gqlrw-6I0s</a:t>
            </a:r>
            <a:endParaRPr lang="en-IN" sz="1900" b="1" kern="100" dirty="0">
              <a:highlight>
                <a:srgbClr val="00FFFF"/>
              </a:highlight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IN" sz="19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13- STABLE DIFFUSION :  </a:t>
            </a:r>
            <a:r>
              <a:rPr lang="en-IN" sz="1900" b="1" u="sng" kern="100" dirty="0">
                <a:highlight>
                  <a:srgbClr val="00FFFF"/>
                </a:highlight>
                <a:latin typeface="Aptos" panose="020B0004020202020204" pitchFamily="34" charset="0"/>
                <a:cs typeface="Times New Roman" panose="02020603050405020304" pitchFamily="18" charset="0"/>
              </a:rPr>
              <a:t>https://www.youtube.com/watch?v=c1GqJ-VFLW0</a:t>
            </a:r>
          </a:p>
          <a:p>
            <a:pPr algn="l"/>
            <a:endParaRPr lang="en-US" b="1" i="0" dirty="0">
              <a:solidFill>
                <a:srgbClr val="F1F1F1"/>
              </a:solidFill>
              <a:effectLst/>
              <a:highlight>
                <a:srgbClr val="0F0F0F"/>
              </a:highlight>
              <a:latin typeface="Roboto" panose="02000000000000000000" pitchFamily="2" charset="0"/>
            </a:endParaRPr>
          </a:p>
          <a:p>
            <a:pPr algn="l"/>
            <a:endParaRPr lang="en-US" b="1" i="0" dirty="0">
              <a:solidFill>
                <a:srgbClr val="F1F1F1"/>
              </a:solidFill>
              <a:effectLst/>
              <a:highlight>
                <a:srgbClr val="0F0F0F"/>
              </a:highlight>
              <a:latin typeface="Roboto" panose="02000000000000000000" pitchFamily="2" charset="0"/>
            </a:endParaRPr>
          </a:p>
          <a:p>
            <a:pPr algn="l"/>
            <a:endParaRPr lang="en-US" b="1" i="0" dirty="0">
              <a:solidFill>
                <a:srgbClr val="F1F1F1"/>
              </a:solidFill>
              <a:effectLst/>
              <a:highlight>
                <a:srgbClr val="0F0F0F"/>
              </a:highlight>
              <a:latin typeface="Roboto" panose="02000000000000000000" pitchFamily="2" charset="0"/>
            </a:endParaRPr>
          </a:p>
          <a:p>
            <a:pPr algn="l"/>
            <a:endParaRPr lang="en-IN" b="1" i="0" dirty="0">
              <a:solidFill>
                <a:srgbClr val="F1F1F1"/>
              </a:solidFill>
              <a:effectLst/>
              <a:highlight>
                <a:srgbClr val="0F0F0F"/>
              </a:highlight>
              <a:latin typeface="Roboto" panose="02000000000000000000" pitchFamily="2" charset="0"/>
            </a:endParaRPr>
          </a:p>
          <a:p>
            <a:pPr algn="l"/>
            <a:endParaRPr lang="en-US" b="1" i="0" dirty="0">
              <a:solidFill>
                <a:srgbClr val="F1F1F1"/>
              </a:solidFill>
              <a:effectLst/>
              <a:highlight>
                <a:srgbClr val="0F0F0F"/>
              </a:highlight>
              <a:latin typeface="Roboto" panose="02000000000000000000" pitchFamily="2" charset="0"/>
            </a:endParaRP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8252488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3298</TotalTime>
  <Words>1558</Words>
  <Application>Microsoft Office PowerPoint</Application>
  <PresentationFormat>Widescreen</PresentationFormat>
  <Paragraphs>137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Avenir Next LT Pro</vt:lpstr>
      <vt:lpstr>Posterama</vt:lpstr>
      <vt:lpstr>Roboto</vt:lpstr>
      <vt:lpstr>Wingdings</vt:lpstr>
      <vt:lpstr>SplashVTI</vt:lpstr>
      <vt:lpstr>PowerPoint Presentation</vt:lpstr>
      <vt:lpstr>What is stable diffusion ?</vt:lpstr>
      <vt:lpstr>REAL TIME USAGE OF STABLE DIFFUSION</vt:lpstr>
      <vt:lpstr>HAND’S ON STABLE DIFFUSION PROJECT </vt:lpstr>
      <vt:lpstr>LET’S EXPLORE FEW WEBSITES WHICH INTEGRATE WITH STABLE DIFFUSON </vt:lpstr>
      <vt:lpstr>STABEL DIFFUSION ARCHITECTURE</vt:lpstr>
      <vt:lpstr>STABLE DIFFUSION ARCHITECTURE EXPLANATION: 1</vt:lpstr>
      <vt:lpstr>STABLE DIFFUSION ARCHITECTURE EXPLANATION:2</vt:lpstr>
      <vt:lpstr>HUGGING FACE &amp; PY-TORCH</vt:lpstr>
      <vt:lpstr>GENERATIVE AI PREVIOUS RECORDING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kodi prakash senapati</dc:creator>
  <cp:lastModifiedBy>kodi prakash senapati</cp:lastModifiedBy>
  <cp:revision>19</cp:revision>
  <dcterms:created xsi:type="dcterms:W3CDTF">2024-09-21T06:09:43Z</dcterms:created>
  <dcterms:modified xsi:type="dcterms:W3CDTF">2024-12-14T15:15:44Z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2024-09-21T06:16:06Z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fef07c45-9e0d-4224-8a97-78a39d8ae827</vt:lpwstr>
  </property>
  <property fmtid="{D5CDD505-2E9C-101B-9397-08002B2CF9AE}" pid="7" name="MSIP_Label_defa4170-0d19-0005-0004-bc88714345d2_ActionId">
    <vt:lpwstr>4cf6c0a2-38e2-4496-b8da-30b6d682919e</vt:lpwstr>
  </property>
  <property fmtid="{D5CDD505-2E9C-101B-9397-08002B2CF9AE}" pid="8" name="MSIP_Label_defa4170-0d19-0005-0004-bc88714345d2_ContentBits">
    <vt:lpwstr>0</vt:lpwstr>
  </property>
</Properties>
</file>